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D2C6"/>
                </a:solidFill>
                <a:latin typeface="Aptos"/>
              </a:rPr>
              <a:t>PNC GCC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800" b="1">
                <a:solidFill>
                  <a:srgbClr val="F5F7F9"/>
                </a:solidFill>
                <a:latin typeface="Aptos Display"/>
              </a:rPr>
              <a:t>dbpulse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3591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FA9A0"/>
                </a:solidFill>
                <a:latin typeface="Aptos"/>
              </a:rPr>
              <a:t>PULSE-AI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788920"/>
            <a:ext cx="6217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9"/>
                </a:solidFill>
                <a:latin typeface="Aptos"/>
              </a:rPr>
              <a:t>Proactive Database Reliability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456432"/>
            <a:ext cx="5852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6B1BC"/>
                </a:solidFill>
                <a:latin typeface="Aptos"/>
              </a:rPr>
              <a:t>Proactive reliability powered by Azure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645152"/>
            <a:ext cx="1234440" cy="292608"/>
          </a:xfrm>
          <a:prstGeom prst="roundRect">
            <a:avLst/>
          </a:prstGeom>
          <a:solidFill>
            <a:srgbClr val="3FA9A0"/>
          </a:solidFill>
          <a:ln w="12700">
            <a:solidFill>
              <a:srgbClr val="3FA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663440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71C"/>
                </a:solidFill>
                <a:latin typeface="Aptos"/>
              </a:rPr>
              <a:t>DETECT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75688" y="4645152"/>
            <a:ext cx="1508760" cy="292608"/>
          </a:xfrm>
          <a:prstGeom prst="roundRect">
            <a:avLst/>
          </a:prstGeom>
          <a:solidFill>
            <a:srgbClr val="67D2C6"/>
          </a:solidFill>
          <a:ln w="12700">
            <a:solidFill>
              <a:srgbClr val="67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5688" y="4663440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71C"/>
                </a:solidFill>
                <a:latin typeface="Aptos"/>
              </a:rPr>
              <a:t>DIAGNOSE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4645152"/>
            <a:ext cx="1783080" cy="292608"/>
          </a:xfrm>
          <a:prstGeom prst="roundRect">
            <a:avLst/>
          </a:prstGeom>
          <a:solidFill>
            <a:srgbClr val="EEAB49"/>
          </a:solidFill>
          <a:ln w="12700">
            <a:solidFill>
              <a:srgbClr val="EEA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4663440"/>
            <a:ext cx="1783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71C"/>
                </a:solidFill>
                <a:latin typeface="Aptos"/>
              </a:rPr>
              <a:t>RAISE INCIDENT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71500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1BC"/>
                </a:solidFill>
                <a:latin typeface="Aptos"/>
              </a:rPr>
              <a:t>Surya Teja Vajjhala (CGI)  +  Teammate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143000"/>
            <a:ext cx="4114800" cy="438912"/>
          </a:xfrm>
          <a:prstGeom prst="roundRect">
            <a:avLst/>
          </a:prstGeom>
          <a:solidFill>
            <a:srgbClr val="232A32"/>
          </a:solidFill>
          <a:ln w="12700">
            <a:solidFill>
              <a:srgbClr val="3FA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1207008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FA9A0"/>
                </a:solidFill>
                <a:latin typeface="Aptos"/>
              </a:rPr>
              <a:t>TELEMETRY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874519"/>
            <a:ext cx="3291840" cy="438912"/>
          </a:xfrm>
          <a:prstGeom prst="roundRect">
            <a:avLst/>
          </a:prstGeom>
          <a:solidFill>
            <a:srgbClr val="232A32"/>
          </a:solidFill>
          <a:ln w="12700">
            <a:solidFill>
              <a:srgbClr val="67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938527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7D2C6"/>
                </a:solidFill>
                <a:latin typeface="Aptos"/>
              </a:rPr>
              <a:t>ANOMALY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2606040"/>
            <a:ext cx="4846320" cy="438912"/>
          </a:xfrm>
          <a:prstGeom prst="roundRect">
            <a:avLst/>
          </a:prstGeom>
          <a:solidFill>
            <a:srgbClr val="232A32"/>
          </a:solidFill>
          <a:ln w="12700">
            <a:solidFill>
              <a:srgbClr val="3FA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2670048"/>
            <a:ext cx="448055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FA9A0"/>
                </a:solidFill>
                <a:latin typeface="Aptos"/>
              </a:rPr>
              <a:t>RAG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337560"/>
            <a:ext cx="2560320" cy="438912"/>
          </a:xfrm>
          <a:prstGeom prst="roundRect">
            <a:avLst/>
          </a:prstGeom>
          <a:solidFill>
            <a:srgbClr val="232A32"/>
          </a:solidFill>
          <a:ln w="12700">
            <a:solidFill>
              <a:srgbClr val="EEA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3401568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EAB49"/>
                </a:solidFill>
                <a:latin typeface="Aptos"/>
              </a:rPr>
              <a:t>AI DIAGNOSIS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069080"/>
            <a:ext cx="3840480" cy="438912"/>
          </a:xfrm>
          <a:prstGeom prst="roundRect">
            <a:avLst/>
          </a:prstGeom>
          <a:solidFill>
            <a:srgbClr val="232A32"/>
          </a:solidFill>
          <a:ln w="12700">
            <a:solidFill>
              <a:srgbClr val="67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4133088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7D2C6"/>
                </a:solidFill>
                <a:latin typeface="Aptos"/>
              </a:rPr>
              <a:t>INCIDENT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1BC"/>
                </a:solidFill>
                <a:latin typeface="Aptos"/>
              </a:rPr>
              <a:t>dbpulse  •  PULSE-AI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B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7D2C6"/>
                </a:solidFill>
                <a:latin typeface="Aptos"/>
              </a:rPr>
              <a:t>01  •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7F9"/>
                </a:solidFill>
                <a:latin typeface="Aptos"/>
              </a:rPr>
              <a:t>Passive monitoring creates active business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1BC"/>
                </a:solidFill>
                <a:latin typeface="Aptos"/>
              </a:rPr>
              <a:t>The alert is often the beginning of the investigation — not the end.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4592"/>
            <a:ext cx="2011680" cy="41148"/>
          </a:xfrm>
          <a:prstGeom prst="rect">
            <a:avLst/>
          </a:prstGeom>
          <a:solidFill>
            <a:srgbClr val="3FA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303520" cy="4069080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1005840" cy="292608"/>
          </a:xfrm>
          <a:prstGeom prst="roundRect">
            <a:avLst/>
          </a:prstGeom>
          <a:solidFill>
            <a:srgbClr val="EA6F68"/>
          </a:solidFill>
          <a:ln w="12700">
            <a:solidFill>
              <a:srgbClr val="EA6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9"/>
                </a:solidFill>
                <a:latin typeface="Aptos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87168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F7F9"/>
                </a:solidFill>
                <a:latin typeface="Aptos"/>
              </a:rPr>
              <a:t>Traditional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7F9"/>
                </a:solidFill>
                <a:latin typeface="Aptos"/>
              </a:defRPr>
            </a:pPr>
            <a:r>
              <a:t>• Alerts fire after thresholds are breached</a:t>
            </a:r>
          </a:p>
          <a:p>
            <a:pPr>
              <a:spcAft>
                <a:spcPts val="1000"/>
              </a:spcAft>
              <a:defRPr sz="1500">
                <a:solidFill>
                  <a:srgbClr val="F5F7F9"/>
                </a:solidFill>
                <a:latin typeface="Aptos"/>
              </a:defRPr>
            </a:pPr>
            <a:r>
              <a:t>• DBAs manually inspect pg_stat_activity and pg_locks</a:t>
            </a:r>
          </a:p>
          <a:p>
            <a:pPr>
              <a:spcAft>
                <a:spcPts val="1000"/>
              </a:spcAft>
              <a:defRPr sz="1500">
                <a:solidFill>
                  <a:srgbClr val="F5F7F9"/>
                </a:solidFill>
                <a:latin typeface="Aptos"/>
              </a:defRPr>
            </a:pPr>
            <a:r>
              <a:t>• Blocking sessions and root cause take time to trace</a:t>
            </a:r>
          </a:p>
          <a:p>
            <a:pPr>
              <a:spcAft>
                <a:spcPts val="1000"/>
              </a:spcAft>
              <a:defRPr sz="1500">
                <a:solidFill>
                  <a:srgbClr val="F5F7F9"/>
                </a:solidFill>
                <a:latin typeface="Aptos"/>
              </a:defRPr>
            </a:pPr>
            <a:r>
              <a:t>• Customer impact can appear before remediation starts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A6F68"/>
                </a:solidFill>
                <a:latin typeface="Aptos"/>
              </a:rPr>
              <a:t>15–30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5449824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1BC"/>
                </a:solidFill>
                <a:latin typeface="Aptos"/>
              </a:rPr>
              <a:t>illustrative incident-resolution window in the pitch scenario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303520" cy="4069080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2057400"/>
            <a:ext cx="1097280" cy="292608"/>
          </a:xfrm>
          <a:prstGeom prst="roundRect">
            <a:avLst/>
          </a:prstGeom>
          <a:solidFill>
            <a:srgbClr val="3FA9A0"/>
          </a:solidFill>
          <a:ln w="12700">
            <a:solidFill>
              <a:srgbClr val="3FA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75688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171C"/>
                </a:solidFill>
                <a:latin typeface="Aptos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87168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F7F9"/>
                </a:solidFill>
                <a:latin typeface="Aptos"/>
              </a:rPr>
              <a:t>Proactive AI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06324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7F9"/>
                </a:solidFill>
                <a:latin typeface="Aptos"/>
              </a:defRPr>
            </a:pPr>
            <a:r>
              <a:t>• Continuous telemetry across the database fleet</a:t>
            </a:r>
          </a:p>
          <a:p>
            <a:pPr>
              <a:spcAft>
                <a:spcPts val="1000"/>
              </a:spcAft>
              <a:defRPr sz="1500">
                <a:solidFill>
                  <a:srgbClr val="F5F7F9"/>
                </a:solidFill>
                <a:latin typeface="Aptos"/>
              </a:defRPr>
            </a:pPr>
            <a:r>
              <a:t>• RAG-grounded diagnosis in plain English</a:t>
            </a:r>
          </a:p>
          <a:p>
            <a:pPr>
              <a:spcAft>
                <a:spcPts val="1000"/>
              </a:spcAft>
              <a:defRPr sz="1500">
                <a:solidFill>
                  <a:srgbClr val="F5F7F9"/>
                </a:solidFill>
                <a:latin typeface="Aptos"/>
              </a:defRPr>
            </a:pPr>
            <a:r>
              <a:t>• Actionable remediation SQL attached</a:t>
            </a:r>
          </a:p>
          <a:p>
            <a:pPr>
              <a:spcAft>
                <a:spcPts val="1000"/>
              </a:spcAft>
              <a:defRPr sz="1500">
                <a:solidFill>
                  <a:srgbClr val="F5F7F9"/>
                </a:solidFill>
                <a:latin typeface="Aptos"/>
              </a:defRPr>
            </a:pPr>
            <a:r>
              <a:t>• Incident ticket drafted for the on-call DBA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44068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67D2C6"/>
                </a:solidFill>
                <a:latin typeface="Aptos"/>
              </a:rPr>
              <a:t>&lt; 90 sec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5449824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1BC"/>
                </a:solidFill>
                <a:latin typeface="Aptos"/>
              </a:rPr>
              <a:t>targeted end-to-end demo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1BC"/>
                </a:solidFill>
                <a:latin typeface="Aptos"/>
              </a:rPr>
              <a:t>dbpulse  •  PULSE-AI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B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7D2C6"/>
                </a:solidFill>
                <a:latin typeface="Aptos"/>
              </a:rPr>
              <a:t>02  • 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7F9"/>
                </a:solidFill>
                <a:latin typeface="Aptos"/>
              </a:rPr>
              <a:t>dbpulse: Detect → Diagnose → 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1BC"/>
                </a:solidFill>
                <a:latin typeface="Aptos"/>
              </a:rPr>
              <a:t>A reliability assistant, not another monitoring dashboard.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4592"/>
            <a:ext cx="2011680" cy="41148"/>
          </a:xfrm>
          <a:prstGeom prst="rect">
            <a:avLst/>
          </a:prstGeom>
          <a:solidFill>
            <a:srgbClr val="3FA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965960" cy="2011680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52728" y="2157984"/>
            <a:ext cx="438912" cy="438912"/>
          </a:xfrm>
          <a:prstGeom prst="ellipse">
            <a:avLst/>
          </a:prstGeom>
          <a:solidFill>
            <a:srgbClr val="3FA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223113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171C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743200"/>
            <a:ext cx="16733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7F9"/>
                </a:solidFill>
                <a:latin typeface="Aptos"/>
              </a:rPr>
              <a:t>PostgreSQL
Telemetry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3337560"/>
            <a:ext cx="1673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6B1BC"/>
                </a:solidFill>
                <a:latin typeface="Aptos"/>
              </a:rPr>
              <a:t>pg_stat_activity
pg_locks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96312" y="2971800"/>
            <a:ext cx="246888" cy="0"/>
          </a:xfrm>
          <a:prstGeom prst="line">
            <a:avLst/>
          </a:prstGeom>
          <a:ln w="25400">
            <a:solidFill>
              <a:srgbClr val="3FA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88920" y="1965960"/>
            <a:ext cx="1965960" cy="2011680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8727" y="2157984"/>
            <a:ext cx="438912" cy="438912"/>
          </a:xfrm>
          <a:prstGeom prst="ellipse">
            <a:avLst/>
          </a:prstGeom>
          <a:solidFill>
            <a:srgbClr val="67D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7" y="223113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171C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5224" y="2743200"/>
            <a:ext cx="16733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7F9"/>
                </a:solidFill>
                <a:latin typeface="Aptos"/>
              </a:rPr>
              <a:t>Anomaly
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5224" y="3337560"/>
            <a:ext cx="1673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6B1BC"/>
                </a:solidFill>
                <a:latin typeface="Aptos"/>
              </a:rPr>
              <a:t>Threshold +
Z-Score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82312" y="2971800"/>
            <a:ext cx="246888" cy="0"/>
          </a:xfrm>
          <a:prstGeom prst="line">
            <a:avLst/>
          </a:prstGeom>
          <a:ln w="25400">
            <a:solidFill>
              <a:srgbClr val="3FA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74920" y="1965960"/>
            <a:ext cx="1965960" cy="2011680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24728" y="2157984"/>
            <a:ext cx="438912" cy="438912"/>
          </a:xfrm>
          <a:prstGeom prst="ellipse">
            <a:avLst/>
          </a:prstGeom>
          <a:solidFill>
            <a:srgbClr val="EEA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24728" y="223113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171C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2743200"/>
            <a:ext cx="16733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7F9"/>
                </a:solidFill>
                <a:latin typeface="Aptos"/>
              </a:rPr>
              <a:t>RAG Knowledge
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3337560"/>
            <a:ext cx="1673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6B1BC"/>
                </a:solidFill>
                <a:latin typeface="Aptos"/>
              </a:rPr>
              <a:t>Wait-event
knowledge base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68312" y="2971800"/>
            <a:ext cx="246888" cy="0"/>
          </a:xfrm>
          <a:prstGeom prst="line">
            <a:avLst/>
          </a:prstGeom>
          <a:ln w="25400">
            <a:solidFill>
              <a:srgbClr val="3FA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60920" y="1965960"/>
            <a:ext cx="1965960" cy="2011680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10728" y="2157984"/>
            <a:ext cx="438912" cy="438912"/>
          </a:xfrm>
          <a:prstGeom prst="ellipse">
            <a:avLst/>
          </a:prstGeom>
          <a:solidFill>
            <a:srgbClr val="67D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0728" y="223113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171C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7224" y="2743200"/>
            <a:ext cx="16733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7F9"/>
                </a:solidFill>
                <a:latin typeface="Aptos"/>
              </a:rPr>
              <a:t>AI Diagnosis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7224" y="3337560"/>
            <a:ext cx="1673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6B1BC"/>
                </a:solidFill>
                <a:latin typeface="Aptos"/>
              </a:rPr>
              <a:t>Azure AI Foundry
Claude Sonnet 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54312" y="2971800"/>
            <a:ext cx="246888" cy="0"/>
          </a:xfrm>
          <a:prstGeom prst="line">
            <a:avLst/>
          </a:prstGeom>
          <a:ln w="25400">
            <a:solidFill>
              <a:srgbClr val="3FA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46920" y="1965960"/>
            <a:ext cx="1965960" cy="2011680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96728" y="2157984"/>
            <a:ext cx="438912" cy="438912"/>
          </a:xfrm>
          <a:prstGeom prst="ellipse">
            <a:avLst/>
          </a:prstGeom>
          <a:solidFill>
            <a:srgbClr val="EA6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96728" y="223113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171C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3224" y="2743200"/>
            <a:ext cx="16733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7F9"/>
                </a:solidFill>
                <a:latin typeface="Aptos"/>
              </a:rPr>
              <a:t>Incident Draft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93224" y="3337560"/>
            <a:ext cx="1673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6B1BC"/>
                </a:solidFill>
                <a:latin typeface="Aptos"/>
              </a:rPr>
              <a:t>INC-00458
+ remediation SQL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17320" y="4709160"/>
            <a:ext cx="9326880" cy="960120"/>
          </a:xfrm>
          <a:prstGeom prst="roundRect">
            <a:avLst/>
          </a:prstGeom>
          <a:solidFill>
            <a:srgbClr val="232A32"/>
          </a:solidFill>
          <a:ln w="12700">
            <a:solidFill>
              <a:srgbClr val="3FA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91640" y="4919472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7D2C6"/>
                </a:solidFill>
                <a:latin typeface="Aptos"/>
              </a:rPr>
              <a:t>HUMAN-IN-THE-LOOP GUARDRAIL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828032"/>
            <a:ext cx="5943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9"/>
                </a:solidFill>
                <a:latin typeface="Aptos"/>
              </a:rPr>
              <a:t>Generates SQL for a human DBA to inspect and run — nothing mutates production automatically.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1BC"/>
                </a:solidFill>
                <a:latin typeface="Aptos"/>
              </a:rPr>
              <a:t>dbpulse  •  PULSE-AI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BC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7D2C6"/>
                </a:solidFill>
                <a:latin typeface="Aptos"/>
              </a:rPr>
              <a:t>03  • 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7F9"/>
                </a:solidFill>
                <a:latin typeface="Aptos"/>
              </a:rPr>
              <a:t>The 90-second money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1BC"/>
                </a:solidFill>
                <a:latin typeface="Aptos"/>
              </a:rPr>
              <a:t>One incident. One workflow. Detect → Diagnose → Raise Incident.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4592"/>
            <a:ext cx="2011680" cy="41148"/>
          </a:xfrm>
          <a:prstGeom prst="rect">
            <a:avLst/>
          </a:prstGeom>
          <a:solidFill>
            <a:srgbClr val="3FA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7D2C6"/>
                </a:solidFill>
                <a:latin typeface="Aptos"/>
              </a:rPr>
              <a:t>00:00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828799"/>
            <a:ext cx="9692640" cy="685800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1947672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FA9A0"/>
                </a:solidFill>
                <a:latin typeface="Aptos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90195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9"/>
                </a:solidFill>
                <a:latin typeface="Aptos"/>
              </a:rPr>
              <a:t>Fleet healthy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01951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1BC"/>
                </a:solidFill>
                <a:latin typeface="Aptos"/>
              </a:rPr>
              <a:t>PNCPRD01 • RECON_DB • MBL_STG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34639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7D2C6"/>
                </a:solidFill>
                <a:latin typeface="Aptos"/>
              </a:rPr>
              <a:t>00:15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2788920"/>
            <a:ext cx="9692640" cy="685800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2907791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3BF7E"/>
                </a:solidFill>
                <a:latin typeface="Aptos"/>
              </a:rPr>
              <a:t>ANOMALY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86207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9"/>
                </a:solidFill>
                <a:latin typeface="Aptos"/>
              </a:rPr>
              <a:t>Row lock contention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62071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1BC"/>
                </a:solidFill>
                <a:latin typeface="Aptos"/>
              </a:rPr>
              <a:t>RISK 88/100 • 4 blocked 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9476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7D2C6"/>
                </a:solidFill>
                <a:latin typeface="Aptos"/>
              </a:rPr>
              <a:t>00:40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3749040"/>
            <a:ext cx="9692640" cy="685800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74519" y="3867912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7D2C6"/>
                </a:solidFill>
                <a:latin typeface="Aptos"/>
              </a:rPr>
              <a:t>DIAGNOSIS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8221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9"/>
                </a:solidFill>
                <a:latin typeface="Aptos"/>
              </a:rPr>
              <a:t>Agent explains root cause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22192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1BC"/>
                </a:solidFill>
                <a:latin typeface="Aptos"/>
              </a:rPr>
              <a:t>PID 48219 • public.orders • RAG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548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7D2C6"/>
                </a:solidFill>
                <a:latin typeface="Aptos"/>
              </a:rPr>
              <a:t>00:70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45920" y="4709160"/>
            <a:ext cx="9692640" cy="685800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4828032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EAB49"/>
                </a:solidFill>
                <a:latin typeface="Aptos"/>
              </a:rPr>
              <a:t>INCIDENT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78231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9"/>
                </a:solidFill>
                <a:latin typeface="Aptos"/>
              </a:rPr>
              <a:t>Ticket drafted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82312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1BC"/>
                </a:solidFill>
                <a:latin typeface="Aptos"/>
              </a:rPr>
              <a:t>INC-00458 • DBA on-call • SQL attached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0644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5F7F9"/>
                </a:solidFill>
                <a:latin typeface="Aptos"/>
              </a:rPr>
              <a:t>The audience sees the system move from a normal state to an actionable incident — without waiting for a human to manually correlate the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1BC"/>
                </a:solidFill>
                <a:latin typeface="Aptos"/>
              </a:rPr>
              <a:t>dbpulse  •  PULSE-AI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B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7D2C6"/>
                </a:solidFill>
                <a:latin typeface="Aptos"/>
              </a:rPr>
              <a:t>04  •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7F9"/>
                </a:solidFill>
                <a:latin typeface="Aptos"/>
              </a:rPr>
              <a:t>Lean stack. Clear boundaries. Enterprise safety.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1BC"/>
                </a:solidFill>
                <a:latin typeface="Aptos"/>
              </a:rPr>
              <a:t>Built around standard Python, React, PostgreSQL and Azure AI components.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4592"/>
            <a:ext cx="2011680" cy="41148"/>
          </a:xfrm>
          <a:prstGeom prst="rect">
            <a:avLst/>
          </a:prstGeom>
          <a:solidFill>
            <a:srgbClr val="3FA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749808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828800" cy="749808"/>
          </a:xfrm>
          <a:prstGeom prst="roundRect">
            <a:avLst/>
          </a:prstGeom>
          <a:solidFill>
            <a:srgbClr val="3FA9A0"/>
          </a:solidFill>
          <a:ln w="12700">
            <a:solidFill>
              <a:srgbClr val="3FA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171C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911095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9"/>
                </a:solidFill>
                <a:latin typeface="Aptos"/>
              </a:rPr>
              <a:t>React incident console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911095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1BC"/>
                </a:solidFill>
                <a:latin typeface="Aptos"/>
              </a:rPr>
              <a:t>Terminal Glow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10698480" cy="749808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1828800" cy="749808"/>
          </a:xfrm>
          <a:prstGeom prst="roundRect">
            <a:avLst/>
          </a:prstGeom>
          <a:solidFill>
            <a:srgbClr val="67D2C6"/>
          </a:solidFill>
          <a:ln w="12700">
            <a:solidFill>
              <a:srgbClr val="67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5351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171C"/>
                </a:solidFill>
                <a:latin typeface="Aptos"/>
              </a:rPr>
              <a:t>API /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87121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9"/>
                </a:solidFill>
                <a:latin typeface="Aptos"/>
              </a:rPr>
              <a:t>Python Flask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871216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1BC"/>
                </a:solidFill>
                <a:latin typeface="Aptos"/>
              </a:rPr>
              <a:t>REST APIs + static assets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03320"/>
            <a:ext cx="10698480" cy="749808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1828800" cy="749808"/>
          </a:xfrm>
          <a:prstGeom prst="roundRect">
            <a:avLst/>
          </a:prstGeom>
          <a:solidFill>
            <a:srgbClr val="EEAB49"/>
          </a:solidFill>
          <a:ln w="12700">
            <a:solidFill>
              <a:srgbClr val="EEA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1363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171C"/>
                </a:solidFill>
                <a:latin typeface="Aptos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831335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9"/>
                </a:solidFill>
                <a:latin typeface="Aptos"/>
              </a:rPr>
              <a:t>Azure Database for 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3831335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1BC"/>
                </a:solidFill>
                <a:latin typeface="Aptos"/>
              </a:rPr>
              <a:t>pg_stat_activity • pg_locks • pg_stat_database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10698480" cy="749808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4663440"/>
            <a:ext cx="1828800" cy="749808"/>
          </a:xfrm>
          <a:prstGeom prst="roundRect">
            <a:avLst/>
          </a:prstGeom>
          <a:solidFill>
            <a:srgbClr val="67D2C6"/>
          </a:solidFill>
          <a:ln w="12700">
            <a:solidFill>
              <a:srgbClr val="67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7375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171C"/>
                </a:solidFill>
                <a:latin typeface="Aptos"/>
              </a:rPr>
              <a:t>AI + 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79145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9"/>
                </a:solidFill>
                <a:latin typeface="Aptos"/>
              </a:rPr>
              <a:t>Azure AI Foundry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791456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1BC"/>
                </a:solidFill>
                <a:latin typeface="Aptos"/>
              </a:rPr>
              <a:t>Claude Sonnet 5 / gpt-5.4-mini + wait-event retriever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623560"/>
            <a:ext cx="10698480" cy="530352"/>
          </a:xfrm>
          <a:prstGeom prst="roundRect">
            <a:avLst/>
          </a:prstGeom>
          <a:solidFill>
            <a:srgbClr val="232A32"/>
          </a:solidFill>
          <a:ln w="12700">
            <a:solidFill>
              <a:srgbClr val="3FA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69864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7D2C6"/>
                </a:solidFill>
                <a:latin typeface="Aptos"/>
              </a:rPr>
              <a:t>RESILIENCE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5715000"/>
            <a:ext cx="8138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9"/>
                </a:solidFill>
                <a:latin typeface="Aptos"/>
              </a:rPr>
              <a:t>Synthetic DB simulator + cached diagnosis fallback for demo continuity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1BC"/>
                </a:solidFill>
                <a:latin typeface="Aptos"/>
              </a:rPr>
              <a:t>dbpulse  •  PULSE-AI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B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7D2C6"/>
                </a:solidFill>
                <a:latin typeface="Aptos"/>
              </a:rPr>
              <a:t>05  •  PRODUCT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7F9"/>
                </a:solidFill>
                <a:latin typeface="Aptos"/>
              </a:rPr>
              <a:t>From one incident console to fleet-wide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1BC"/>
                </a:solidFill>
                <a:latin typeface="Aptos"/>
              </a:rPr>
              <a:t>Today's demo proves the core loop; the product vision expands the operating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4592"/>
            <a:ext cx="2011680" cy="41148"/>
          </a:xfrm>
          <a:prstGeom prst="rect">
            <a:avLst/>
          </a:prstGeom>
          <a:solidFill>
            <a:srgbClr val="3FA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2514600" cy="2423160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2514600" cy="118872"/>
          </a:xfrm>
          <a:prstGeom prst="rect">
            <a:avLst/>
          </a:prstGeom>
          <a:solidFill>
            <a:srgbClr val="3FA9A0"/>
          </a:solidFill>
          <a:ln w="12700">
            <a:solidFill>
              <a:srgbClr val="3FA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267712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9"/>
                </a:solidFill>
                <a:latin typeface="Aptos"/>
              </a:rPr>
              <a:t>FLEET HEATMAP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97180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1BC"/>
                </a:solidFill>
                <a:latin typeface="Aptos"/>
              </a:rPr>
              <a:t>Multi-database visibility
and drilldowns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88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FA9A0"/>
                </a:solidFill>
                <a:latin typeface="Aptos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874519"/>
            <a:ext cx="2514600" cy="2423160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39" y="1874519"/>
            <a:ext cx="2514600" cy="118872"/>
          </a:xfrm>
          <a:prstGeom prst="rect">
            <a:avLst/>
          </a:prstGeom>
          <a:solidFill>
            <a:srgbClr val="67D2C6"/>
          </a:solidFill>
          <a:ln w="12700">
            <a:solidFill>
              <a:srgbClr val="67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267712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9"/>
                </a:solidFill>
                <a:latin typeface="Aptos"/>
              </a:rPr>
              <a:t>FEEDBACK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97180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1BC"/>
                </a:solidFill>
                <a:latin typeface="Aptos"/>
              </a:rPr>
              <a:t>DBA feedback to refine
RAG grounding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88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7D2C6"/>
                </a:solidFill>
                <a:latin typeface="Aptos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74519"/>
            <a:ext cx="2514600" cy="2423160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874519"/>
            <a:ext cx="2514600" cy="118872"/>
          </a:xfrm>
          <a:prstGeom prst="rect">
            <a:avLst/>
          </a:prstGeom>
          <a:solidFill>
            <a:srgbClr val="EEAB49"/>
          </a:solidFill>
          <a:ln w="12700">
            <a:solidFill>
              <a:srgbClr val="EEA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267712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9"/>
                </a:solidFill>
                <a:latin typeface="Aptos"/>
              </a:rPr>
              <a:t>POST-MORTEMS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7180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1BC"/>
                </a:solidFill>
                <a:latin typeface="Aptos"/>
              </a:rPr>
              <a:t>Automated incident
summary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88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EAB49"/>
                </a:solidFill>
                <a:latin typeface="Aptos"/>
              </a:rP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59" y="1874519"/>
            <a:ext cx="2514600" cy="2423160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81159" y="1874519"/>
            <a:ext cx="2514600" cy="118872"/>
          </a:xfrm>
          <a:prstGeom prst="rect">
            <a:avLst/>
          </a:prstGeom>
          <a:solidFill>
            <a:srgbClr val="EA6F68"/>
          </a:solidFill>
          <a:ln w="12700">
            <a:solidFill>
              <a:srgbClr val="EA6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39" y="2267712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9"/>
                </a:solidFill>
                <a:latin typeface="Aptos"/>
              </a:rPr>
              <a:t>SAFE BY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39" y="297180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1BC"/>
                </a:solidFill>
                <a:latin typeface="Aptos"/>
              </a:rPr>
              <a:t>Human approval before
remediation 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39" y="38862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A6F68"/>
                </a:solidFill>
                <a:latin typeface="Aptos"/>
              </a:rP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800600"/>
            <a:ext cx="10149840" cy="868680"/>
          </a:xfrm>
          <a:prstGeom prst="roundRect">
            <a:avLst/>
          </a:prstGeom>
          <a:solidFill>
            <a:srgbClr val="232A32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501091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7D2C6"/>
                </a:solidFill>
                <a:latin typeface="Aptos"/>
              </a:rPr>
              <a:t>HACKATHON 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919472"/>
            <a:ext cx="7498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9"/>
                </a:solidFill>
                <a:latin typeface="Aptos"/>
              </a:rPr>
              <a:t>Fresh, independently-authored code using synthetic PostgreSQL banking datasets.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1BC"/>
                </a:solidFill>
                <a:latin typeface="Aptos"/>
              </a:rPr>
              <a:t>dbpulse  •  PULSE-AI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BC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7D2C6"/>
                </a:solidFill>
                <a:latin typeface="Aptos"/>
              </a:rPr>
              <a:t>06  • 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7F9"/>
                </a:solidFill>
                <a:latin typeface="Aptos"/>
              </a:rPr>
              <a:t>Why this matters to the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1BC"/>
                </a:solidFill>
                <a:latin typeface="Aptos"/>
              </a:rPr>
              <a:t>Translate faster technical triage into lower operational risk and higher engineering focus.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4592"/>
            <a:ext cx="2011680" cy="41148"/>
          </a:xfrm>
          <a:prstGeom prst="rect">
            <a:avLst/>
          </a:prstGeom>
          <a:solidFill>
            <a:srgbClr val="3FA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429000" cy="1874519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75688"/>
            <a:ext cx="309981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67D2C6"/>
                </a:solidFill>
                <a:latin typeface="Aptos"/>
              </a:rPr>
              <a:t>&lt; 90 sec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633472"/>
            <a:ext cx="30998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1BC"/>
                </a:solidFill>
                <a:latin typeface="Aptos"/>
              </a:rPr>
              <a:t>Targeted demo loop: detect → diagnose → incident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874519"/>
            <a:ext cx="3429000" cy="1874519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075688"/>
            <a:ext cx="309981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EAB49"/>
                </a:solidFill>
                <a:latin typeface="Aptos"/>
              </a:rPr>
              <a:t>15–30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633472"/>
            <a:ext cx="30998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1BC"/>
                </a:solidFill>
                <a:latin typeface="Aptos"/>
              </a:rPr>
              <a:t>Illustrative manual incident-resolution window in pitch 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874519"/>
            <a:ext cx="3429000" cy="1874519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2075688"/>
            <a:ext cx="309981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A6F68"/>
                </a:solidFill>
                <a:latin typeface="Aptos"/>
              </a:rPr>
              <a:t>HUMAN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2633472"/>
            <a:ext cx="30998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1BC"/>
                </a:solidFill>
                <a:latin typeface="Aptos"/>
              </a:rPr>
              <a:t>Approval remains in the remediation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A6F68"/>
                </a:solidFill>
                <a:latin typeface="Aptos"/>
              </a:rP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142232"/>
            <a:ext cx="9144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9"/>
                </a:solidFill>
                <a:latin typeface="Aptos"/>
              </a:rPr>
              <a:t>Surface lock contention and related anomalies before they cascade.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8231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FA9A0"/>
                </a:solidFill>
                <a:latin typeface="Aptos"/>
              </a:rPr>
              <a:t>VELOCITY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764024"/>
            <a:ext cx="9144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9"/>
                </a:solidFill>
                <a:latin typeface="Aptos"/>
              </a:rPr>
              <a:t>Automate repetitive DBA triage and evidence gathering.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0410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7D2C6"/>
                </a:solidFill>
                <a:latin typeface="Aptos"/>
              </a:rPr>
              <a:t>CONSISTENCY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385816"/>
            <a:ext cx="9144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7F9"/>
                </a:solidFill>
                <a:latin typeface="Aptos"/>
              </a:rPr>
              <a:t>Ground diagnosis in known wait-event troubleshooting guidance.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1BC"/>
                </a:solidFill>
                <a:latin typeface="Aptos"/>
              </a:rPr>
              <a:t>dbpulse  •  PULSE-AI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BC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7D2C6"/>
                </a:solidFill>
                <a:latin typeface="Aptos"/>
              </a:rPr>
              <a:t>07  • 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7F9"/>
                </a:solidFill>
                <a:latin typeface="Aptos"/>
              </a:rPr>
              <a:t>A reliability workflow built for the moment that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1BC"/>
                </a:solidFill>
                <a:latin typeface="Aptos"/>
              </a:rPr>
              <a:t>Detect the signal. Explain the cause. Put the next action in front of the DBA.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4592"/>
            <a:ext cx="2011680" cy="41148"/>
          </a:xfrm>
          <a:prstGeom prst="rect">
            <a:avLst/>
          </a:prstGeom>
          <a:solidFill>
            <a:srgbClr val="3FA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965960"/>
            <a:ext cx="2926080" cy="1051560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6771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3FA9A0"/>
                </a:solidFill>
                <a:latin typeface="Aptos"/>
              </a:rPr>
              <a:t>DETECT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86200" y="2487168"/>
            <a:ext cx="731520" cy="0"/>
          </a:xfrm>
          <a:prstGeom prst="line">
            <a:avLst/>
          </a:prstGeom>
          <a:ln w="25400">
            <a:solidFill>
              <a:srgbClr val="3FA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63440" y="1965960"/>
            <a:ext cx="2926080" cy="1051560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26771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67D2C6"/>
                </a:solidFill>
                <a:latin typeface="Aptos"/>
              </a:rPr>
              <a:t>DIAGNOSE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89520" y="2487168"/>
            <a:ext cx="731520" cy="0"/>
          </a:xfrm>
          <a:prstGeom prst="line">
            <a:avLst/>
          </a:prstGeom>
          <a:ln w="25400">
            <a:solidFill>
              <a:srgbClr val="3FA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366760" y="1965960"/>
            <a:ext cx="2926080" cy="1051560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26771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EEAB49"/>
                </a:solidFill>
                <a:latin typeface="Aptos"/>
              </a:rPr>
              <a:t>RAISE INCIDENT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9476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F5F7F9"/>
                </a:solidFill>
                <a:latin typeface="Aptos"/>
              </a:rPr>
              <a:t>&lt; 90 sec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43708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6B1BC"/>
                </a:solidFill>
                <a:latin typeface="Aptos"/>
              </a:rPr>
              <a:t>targeted end-to-end demo 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4983480"/>
            <a:ext cx="8549640" cy="731520"/>
          </a:xfrm>
          <a:prstGeom prst="roundRect">
            <a:avLst/>
          </a:prstGeom>
          <a:solidFill>
            <a:srgbClr val="232A32"/>
          </a:solidFill>
          <a:ln w="12700">
            <a:solidFill>
              <a:srgbClr val="3FA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5193792"/>
            <a:ext cx="8092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5F7F9"/>
                </a:solidFill>
                <a:latin typeface="Aptos"/>
              </a:rPr>
              <a:t>Azure AI  •  PostgreSQL  •  RAG  •  Human-in-the-loop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897880"/>
            <a:ext cx="6309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7D2C6"/>
                </a:solidFill>
                <a:latin typeface="Aptos"/>
              </a:rPr>
              <a:t>github.com/surya-teja0518/GCC-Hackathon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1BC"/>
                </a:solidFill>
                <a:latin typeface="Aptos"/>
              </a:rPr>
              <a:t>dbpulse  •  PULSE-AI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BC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7D2C6"/>
                </a:solidFill>
                <a:latin typeface="Aptos"/>
              </a:rPr>
              <a:t>08  • 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7F9"/>
                </a:solidFill>
                <a:latin typeface="Aptos"/>
              </a:rPr>
              <a:t>Questions we expect from the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1BC"/>
                </a:solidFill>
                <a:latin typeface="Aptos"/>
              </a:rPr>
              <a:t>Keep answers short, safety-first and tied to the product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4592"/>
            <a:ext cx="2011680" cy="41148"/>
          </a:xfrm>
          <a:prstGeom prst="rect">
            <a:avLst/>
          </a:prstGeom>
          <a:solidFill>
            <a:srgbClr val="3FA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10835640" cy="896112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7D2C6"/>
                </a:solidFill>
                <a:latin typeface="Aptos"/>
              </a:rPr>
              <a:t>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856231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9"/>
                </a:solidFill>
                <a:latin typeface="Aptos"/>
              </a:rPr>
              <a:t>How do you prevent dangerous SQL execution?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828800"/>
            <a:ext cx="5623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1BC"/>
                </a:solidFill>
                <a:latin typeface="Aptos"/>
              </a:rPr>
              <a:t>Human-in-the-loop: SQL is generated for inspection; nothing executes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52928"/>
            <a:ext cx="10835640" cy="896112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035808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7D2C6"/>
                </a:solidFill>
                <a:latin typeface="Aptos"/>
              </a:rPr>
              <a:t>Resilience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7180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9"/>
                </a:solidFill>
                <a:latin typeface="Aptos"/>
              </a:rPr>
              <a:t>What if the LLM/API is unavailable?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944368"/>
            <a:ext cx="5623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1BC"/>
                </a:solidFill>
                <a:latin typeface="Aptos"/>
              </a:rPr>
              <a:t>Deterministic, RAG-grounded fallback guidance keeps the DBA supplied with next steps.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68496"/>
            <a:ext cx="10835640" cy="896112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151376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7D2C6"/>
                </a:solidFill>
                <a:latin typeface="Aptos"/>
              </a:rPr>
              <a:t>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087368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9"/>
                </a:solidFill>
                <a:latin typeface="Aptos"/>
              </a:rPr>
              <a:t>Can this extend to hundreds of databases?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4059935"/>
            <a:ext cx="5623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1BC"/>
                </a:solidFill>
                <a:latin typeface="Aptos"/>
              </a:rPr>
              <a:t>The monitoring layer is designed to be fleet-oriented; deployment can scale the collection architecture.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084064"/>
            <a:ext cx="10835640" cy="896112"/>
          </a:xfrm>
          <a:prstGeom prst="roundRect">
            <a:avLst/>
          </a:prstGeom>
          <a:solidFill>
            <a:srgbClr val="1D2229"/>
          </a:solidFill>
          <a:ln w="12700">
            <a:solidFill>
              <a:srgbClr val="36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266944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7D2C6"/>
                </a:solidFill>
                <a:latin typeface="Aptos"/>
              </a:rPr>
              <a:t>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202936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9"/>
                </a:solidFill>
                <a:latin typeface="Aptos"/>
              </a:rPr>
              <a:t>Is this replacing existing DBA tools?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5175504"/>
            <a:ext cx="5623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1BC"/>
                </a:solidFill>
                <a:latin typeface="Aptos"/>
              </a:rPr>
              <a:t>No. It is a consolidated reliability assistant that helps identify where to investigate first.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B1BC"/>
                </a:solidFill>
                <a:latin typeface="Aptos"/>
              </a:rPr>
              <a:t>dbpulse  •  PULSE-AI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1BC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